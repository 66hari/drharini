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82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3" r:id="rId29"/>
    <p:sldId id="306" r:id="rId30"/>
    <p:sldId id="305" r:id="rId31"/>
    <p:sldId id="307" r:id="rId32"/>
    <p:sldId id="308" r:id="rId33"/>
    <p:sldId id="309" r:id="rId34"/>
    <p:sldId id="310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18" r:id="rId43"/>
    <p:sldId id="319" r:id="rId44"/>
    <p:sldId id="281" r:id="rId45"/>
  </p:sldIdLst>
  <p:sldSz cx="9144000" cy="6858000" type="screen4x3"/>
  <p:notesSz cx="6858000" cy="9144000"/>
  <p:defaultTextStyle>
    <a:defPPr>
      <a:defRPr lang="en-US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3175"/>
            <a:ext cx="9153525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125538"/>
            <a:ext cx="6908800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351088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8763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lvl="0"/>
            <a:endParaRPr lang="zh-CN" alt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lvl="0"/>
            <a:endParaRPr lang="zh-CN" altLang="en-US" dirty="0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IN" altLang="en-US"/>
              <a:t>METAVERSE DATA ANALYSIS </a:t>
            </a:r>
            <a:r>
              <a:rPr lang="en-US" altLang="en-IN"/>
              <a:t>FINAL </a:t>
            </a:r>
            <a:r>
              <a:rPr lang="en-IN" altLang="en-US"/>
              <a:t>PROJECT REPORT</a:t>
            </a:r>
            <a:endParaRPr lang="en-I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IN" altLang="en-US"/>
              <a:t>BY</a:t>
            </a:r>
            <a:endParaRPr lang="en-IN" altLang="en-US"/>
          </a:p>
          <a:p>
            <a:r>
              <a:rPr lang="en-IN" altLang="en-US"/>
              <a:t>GROUP -3</a:t>
            </a:r>
            <a:endParaRPr lang="en-I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4916170" y="574675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IN" altLang="en-US"/>
              <a:t>Under The Guidance of: Jatinder Bedi</a:t>
            </a:r>
            <a:endParaRPr lang="en-IN" altLang="en-US"/>
          </a:p>
          <a:p>
            <a:pPr marL="0" indent="0">
              <a:buNone/>
            </a:pPr>
            <a:r>
              <a:rPr lang="en-IN" altLang="en-US"/>
              <a:t>Members:</a:t>
            </a:r>
            <a:endParaRPr lang="en-IN" altLang="en-US"/>
          </a:p>
          <a:p>
            <a:pPr marL="0" indent="0">
              <a:buNone/>
            </a:pPr>
            <a:r>
              <a:rPr lang="en-IN" altLang="en-US"/>
              <a:t>Piyush Chaudhari</a:t>
            </a:r>
            <a:endParaRPr lang="en-IN" altLang="en-US"/>
          </a:p>
          <a:p>
            <a:pPr marL="0" indent="0">
              <a:buNone/>
            </a:pPr>
            <a:r>
              <a:rPr lang="en-IN" altLang="en-US"/>
              <a:t>Tanya Dhingra</a:t>
            </a:r>
            <a:endParaRPr lang="en-IN" altLang="en-US"/>
          </a:p>
          <a:p>
            <a:pPr marL="0" indent="0">
              <a:buNone/>
            </a:pPr>
            <a:r>
              <a:rPr lang="en-IN" altLang="en-US"/>
              <a:t>Shweta Yaduraj Singh</a:t>
            </a:r>
            <a:endParaRPr lang="en-IN" altLang="en-US"/>
          </a:p>
          <a:p>
            <a:pPr marL="0" indent="0">
              <a:buNone/>
            </a:pPr>
            <a:r>
              <a:rPr lang="en-IN" altLang="en-US"/>
              <a:t>Kshitija Dadasaheb Shevate</a:t>
            </a:r>
            <a:endParaRPr lang="en-IN" altLang="en-US"/>
          </a:p>
          <a:p>
            <a:pPr marL="0" indent="0">
              <a:buNone/>
            </a:pPr>
            <a:r>
              <a:rPr lang="en-IN" altLang="en-US"/>
              <a:t>Ritik Kasana</a:t>
            </a:r>
            <a:endParaRPr lang="en-IN" altLang="en-US"/>
          </a:p>
          <a:p>
            <a:pPr marL="0" indent="0">
              <a:buNone/>
            </a:pPr>
            <a:r>
              <a:rPr lang="en-IN" altLang="en-US"/>
              <a:t>Dr Harini Sridharan</a:t>
            </a:r>
            <a:endParaRPr lang="en-I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METAVERSE:</a:t>
            </a:r>
            <a:endParaRPr lang="en-IN" altLang="en-US"/>
          </a:p>
          <a:p>
            <a:pPr marL="0" indent="0">
              <a:buNone/>
            </a:pPr>
            <a:r>
              <a:rPr lang="en-IN" altLang="en-US"/>
              <a:t>The metaverse is a virtual universe where users can interact with each other through avatars in a 3D space. It's a combination of the physical and digital worlds, where users can work, play, and socialize. The metaverse is built on technologies like virtual reality (VR), augmented reality (AR), and blockchain-based decentralized finance tools</a:t>
            </a:r>
            <a:endParaRPr lang="en-I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5" name="Content Placeholder 4"/>
          <p:cNvSpPr/>
          <p:nvPr>
            <p:ph idx="1"/>
          </p:nvPr>
        </p:nvSpPr>
        <p:spPr/>
        <p:txBody>
          <a:bodyPr/>
          <a:p>
            <a:r>
              <a:rPr lang="en-IN" altLang="en-US"/>
              <a:t>Our project deals with financial data of metaverse </a:t>
            </a:r>
            <a:endParaRPr lang="en-IN" altLang="en-US"/>
          </a:p>
          <a:p>
            <a:r>
              <a:rPr lang="en-IN" altLang="en-US"/>
              <a:t>OBJECTIVE:</a:t>
            </a:r>
            <a:endParaRPr lang="en-IN" altLang="en-US"/>
          </a:p>
          <a:p>
            <a:pPr marL="0" indent="0">
              <a:buNone/>
            </a:pPr>
            <a:r>
              <a:rPr lang="en-IN" altLang="en-US"/>
              <a:t>To detect high risk anomaly and prevent financial fraudsand improve user efficiency</a:t>
            </a:r>
            <a:endParaRPr lang="en-IN" altLang="en-US"/>
          </a:p>
          <a:p>
            <a:pPr marL="0" indent="0">
              <a:buNone/>
            </a:pPr>
            <a:r>
              <a:rPr lang="en-IN" altLang="en-US"/>
              <a:t> </a:t>
            </a:r>
            <a:endParaRPr lang="en-I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ym typeface="+mn-ea"/>
              </a:rPr>
              <a:t>Some Insights into our analysis: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pair plot</a:t>
            </a:r>
            <a:endParaRPr lang="en-IN" altLang="en-US"/>
          </a:p>
          <a:p>
            <a:endParaRPr lang="en-IN" altLang="en-US"/>
          </a:p>
        </p:txBody>
      </p:sp>
      <p:pic>
        <p:nvPicPr>
          <p:cNvPr id="6" name="image18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1907540" y="1701165"/>
            <a:ext cx="5943600" cy="47186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05" y="190500"/>
            <a:ext cx="8229600" cy="582613"/>
          </a:xfrm>
        </p:spPr>
        <p:txBody>
          <a:bodyPr/>
          <a:p>
            <a:r>
              <a:rPr lang="en-IN" altLang="en-US"/>
              <a:t>clearing outliers of numeric variable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8" name="image22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1600200" y="1854200"/>
            <a:ext cx="5943600" cy="43008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ANOMALY IDENTIFICATION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image6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601980" y="1911350"/>
            <a:ext cx="8276590" cy="403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Boxplot of numeric variables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16" name="image9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1600200" y="1543050"/>
            <a:ext cx="5943600" cy="47358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Amount vs Risk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12" name="image5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-552450" y="1460500"/>
            <a:ext cx="9171305" cy="47250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login frequency vs anomaly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22" name="image20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1019175" y="1367155"/>
            <a:ext cx="6786880" cy="47301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Session duration vs Anomaly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13" name="image8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1847850" y="2060893"/>
            <a:ext cx="5448300" cy="41243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Risk Score vs Anomaly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18" name="image17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658495" y="1367155"/>
            <a:ext cx="7000240" cy="48545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Age-group vs Anomaly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1301750" y="1904365"/>
          <a:ext cx="6578600" cy="3434080"/>
        </p:xfrm>
        <a:graphic>
          <a:graphicData uri="http://schemas.openxmlformats.org/drawingml/2006/table">
            <a:tbl>
              <a:tblPr/>
              <a:tblGrid>
                <a:gridCol w="1315720"/>
                <a:gridCol w="1315720"/>
                <a:gridCol w="1315720"/>
                <a:gridCol w="1315720"/>
                <a:gridCol w="1315720"/>
              </a:tblGrid>
              <a:tr h="852805"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anomaly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high_risk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low_risk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moderate_risk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All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age_group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endParaRPr sz="10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endParaRPr sz="10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endParaRPr sz="10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endParaRPr sz="10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52805">
                <a:tc>
                  <a:txBody>
                    <a:bodyPr/>
                    <a:p>
                      <a:pPr algn="ctr" fontAlgn="t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established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0.331209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0.331209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8785">
                <a:tc>
                  <a:txBody>
                    <a:bodyPr/>
                    <a:p>
                      <a:pPr algn="ctr" fontAlgn="t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new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0.082634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0.244987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0.005013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0.332634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9420">
                <a:tc>
                  <a:txBody>
                    <a:bodyPr/>
                    <a:p>
                      <a:pPr algn="ctr" fontAlgn="t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veteran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0.231616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0.104542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0.336158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8785">
                <a:tc>
                  <a:txBody>
                    <a:bodyPr/>
                    <a:p>
                      <a:pPr algn="ctr" fontAlgn="t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All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0.082634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0.807812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0.109555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1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Region vs Anomaly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713740" y="1557020"/>
          <a:ext cx="7974330" cy="4251960"/>
        </p:xfrm>
        <a:graphic>
          <a:graphicData uri="http://schemas.openxmlformats.org/drawingml/2006/table">
            <a:tbl>
              <a:tblPr/>
              <a:tblGrid>
                <a:gridCol w="1139190"/>
                <a:gridCol w="1139190"/>
                <a:gridCol w="1139190"/>
                <a:gridCol w="1139190"/>
                <a:gridCol w="1139190"/>
                <a:gridCol w="1139190"/>
                <a:gridCol w="1139190"/>
              </a:tblGrid>
              <a:tr h="1140460"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location_region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Africa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Asia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Europe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North America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South America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All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3860"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anomaly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endParaRPr sz="10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endParaRPr sz="10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endParaRPr sz="10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endParaRPr sz="10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endParaRPr sz="10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endParaRPr sz="10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59460">
                <a:tc>
                  <a:txBody>
                    <a:bodyPr/>
                    <a:p>
                      <a:pPr algn="ctr" fontAlgn="t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high_risk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0.016578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0.016692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0.015687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0.017226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0.01645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0.082634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0095">
                <a:tc>
                  <a:txBody>
                    <a:bodyPr/>
                    <a:p>
                      <a:pPr algn="ctr" fontAlgn="t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low_risk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0.159987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0.16173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0.163066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0.162519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0.160509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0.807812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84225">
                <a:tc>
                  <a:txBody>
                    <a:bodyPr/>
                    <a:p>
                      <a:pPr algn="ctr" fontAlgn="t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moderate_risk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0.02131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0.021718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0.022354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0.021781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0.022392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0.109555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3860">
                <a:tc>
                  <a:txBody>
                    <a:bodyPr/>
                    <a:p>
                      <a:pPr algn="ctr" fontAlgn="t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All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0.197875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0.20014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0.201107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0.201527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0.199351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1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Purchase pattern Vs Anomaly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1520825" y="1348105"/>
          <a:ext cx="6070600" cy="4547870"/>
        </p:xfrm>
        <a:graphic>
          <a:graphicData uri="http://schemas.openxmlformats.org/drawingml/2006/table">
            <a:tbl>
              <a:tblPr/>
              <a:tblGrid>
                <a:gridCol w="1214120"/>
                <a:gridCol w="1214120"/>
                <a:gridCol w="1214120"/>
                <a:gridCol w="1214120"/>
                <a:gridCol w="1214120"/>
              </a:tblGrid>
              <a:tr h="711200"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anomaly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high_risk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low_risk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moderate_risk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All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35050"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purchase_pattern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endParaRPr sz="10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endParaRPr sz="10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endParaRPr sz="10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endParaRPr sz="10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9610">
                <a:tc>
                  <a:txBody>
                    <a:bodyPr/>
                    <a:p>
                      <a:pPr algn="ctr" fontAlgn="t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focused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0.331209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0.331209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1200">
                <a:tc>
                  <a:txBody>
                    <a:bodyPr/>
                    <a:p>
                      <a:pPr algn="ctr" fontAlgn="t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high_value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0.231616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0.104542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0.336158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35050">
                <a:tc>
                  <a:txBody>
                    <a:bodyPr/>
                    <a:p>
                      <a:pPr algn="ctr" fontAlgn="t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random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0.082634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0.244987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0.005013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0.332634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t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All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0.082634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0.807812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0.109555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1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Transaction type vs Anomaly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987425" y="1684020"/>
          <a:ext cx="7178675" cy="4443730"/>
        </p:xfrm>
        <a:graphic>
          <a:graphicData uri="http://schemas.openxmlformats.org/drawingml/2006/table">
            <a:tbl>
              <a:tblPr/>
              <a:tblGrid>
                <a:gridCol w="1435735"/>
                <a:gridCol w="1435735"/>
                <a:gridCol w="1435735"/>
                <a:gridCol w="1435735"/>
                <a:gridCol w="1435735"/>
              </a:tblGrid>
              <a:tr h="699770"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anomaly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high_risk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low_risk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moderate_risk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All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9135"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transaction_type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endParaRPr sz="10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endParaRPr sz="10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endParaRPr sz="10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endParaRPr sz="10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5455">
                <a:tc>
                  <a:txBody>
                    <a:bodyPr/>
                    <a:p>
                      <a:pPr algn="ctr" fontAlgn="t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phishing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0.032392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0.032392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9770">
                <a:tc>
                  <a:txBody>
                    <a:bodyPr/>
                    <a:p>
                      <a:pPr algn="ctr" fontAlgn="t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purchase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0.317303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0.317303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6090">
                <a:tc>
                  <a:txBody>
                    <a:bodyPr/>
                    <a:p>
                      <a:pPr algn="ctr" fontAlgn="t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sale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0.20902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0.109555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0.318575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6725">
                <a:tc>
                  <a:txBody>
                    <a:bodyPr/>
                    <a:p>
                      <a:pPr algn="ctr" fontAlgn="t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scam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0.050242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0.050242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9135">
                <a:tc>
                  <a:txBody>
                    <a:bodyPr/>
                    <a:p>
                      <a:pPr algn="ctr" fontAlgn="t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transfer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0.281489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0.281489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650">
                <a:tc>
                  <a:txBody>
                    <a:bodyPr/>
                    <a:p>
                      <a:pPr algn="ctr" fontAlgn="t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All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0.082634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0.807812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0.109555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1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8585" y="260985"/>
            <a:ext cx="8229600" cy="582613"/>
          </a:xfrm>
        </p:spPr>
        <p:txBody>
          <a:bodyPr/>
          <a:p>
            <a:r>
              <a:rPr lang="en-IN" altLang="en-US"/>
              <a:t>Correlation of numeric components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17" name="image14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1691640" y="1895158"/>
            <a:ext cx="5886450" cy="49625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heatmap of numeric values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15" name="image12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2195513" y="2781300"/>
            <a:ext cx="5324475" cy="49720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3035"/>
            <a:ext cx="8229600" cy="1483995"/>
          </a:xfrm>
        </p:spPr>
        <p:txBody>
          <a:bodyPr/>
          <a:p>
            <a:r>
              <a:rPr lang="en-IN" altLang="en-US"/>
              <a:t>login frequency session duration vs</a:t>
            </a:r>
            <a:br>
              <a:rPr lang="en-IN" altLang="en-US"/>
            </a:br>
            <a:r>
              <a:rPr lang="en-IN" altLang="en-US"/>
              <a:t>Anomaly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11" name="image16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1847850" y="1367155"/>
            <a:ext cx="5448300" cy="49263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Age group vs Anomaly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14" name="image15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1764030" y="2421255"/>
            <a:ext cx="5257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Risk Score vs Hours of day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21" name="image21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1907223" y="2205038"/>
            <a:ext cx="5172075" cy="41243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Transaction Amount by anomaly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7" name="image19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1600200" y="1629410"/>
            <a:ext cx="5943600" cy="4826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Amount vs Anomaly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10" name="image7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1547495" y="1772920"/>
            <a:ext cx="594360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Region,age group vs anomaly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375410" y="1701165"/>
          <a:ext cx="6520180" cy="3509010"/>
        </p:xfrm>
        <a:graphic>
          <a:graphicData uri="http://schemas.openxmlformats.org/drawingml/2006/table">
            <a:tbl>
              <a:tblPr/>
              <a:tblGrid>
                <a:gridCol w="1630045"/>
                <a:gridCol w="1630045"/>
                <a:gridCol w="1630045"/>
                <a:gridCol w="1630045"/>
              </a:tblGrid>
              <a:tr h="471170"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age_group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established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new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veteran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895">
                <a:tc>
                  <a:txBody>
                    <a:bodyPr/>
                    <a:p>
                      <a:pPr algn="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location_region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endParaRPr sz="10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endParaRPr sz="10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endParaRPr sz="10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1170">
                <a:tc>
                  <a:txBody>
                    <a:bodyPr/>
                    <a:p>
                      <a:pPr algn="ctr" fontAlgn="t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Africa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500.955968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499.831114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500.833306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535">
                <a:tc>
                  <a:txBody>
                    <a:bodyPr/>
                    <a:p>
                      <a:pPr algn="ctr" fontAlgn="t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Asia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509.922536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503.666303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500.297765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535">
                <a:tc>
                  <a:txBody>
                    <a:bodyPr/>
                    <a:p>
                      <a:pPr algn="ctr" fontAlgn="t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Europe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500.43779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501.152597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505.153146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535">
                <a:tc>
                  <a:txBody>
                    <a:bodyPr/>
                    <a:p>
                      <a:pPr algn="ctr" fontAlgn="t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North America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502.865445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503.599285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501.635657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1170">
                <a:tc>
                  <a:txBody>
                    <a:bodyPr/>
                    <a:p>
                      <a:pPr algn="ctr" fontAlgn="t"/>
                      <a:r>
                        <a:rPr sz="1000" b="1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South America</a:t>
                      </a:r>
                      <a:endParaRPr sz="1000" b="1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499.182661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505.352536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503.68761</a:t>
                      </a:r>
                      <a:endParaRPr sz="1000" b="0" i="0">
                        <a:solidFill>
                          <a:srgbClr val="000000"/>
                        </a:solidFill>
                        <a:latin typeface="Arial Unicode MS"/>
                        <a:ea typeface="Arial Unicode MS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Age group vs risk score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5" name="image1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2051368" y="1629093"/>
            <a:ext cx="5210175" cy="488632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PCA to chose the numeric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image13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1835785" y="1989455"/>
            <a:ext cx="54483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linear regression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altLang="en-IN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979805" y="2195830"/>
          <a:ext cx="7411720" cy="3842385"/>
        </p:xfrm>
        <a:graphic>
          <a:graphicData uri="http://schemas.openxmlformats.org/drawingml/2006/table">
            <a:tbl>
              <a:tblPr/>
              <a:tblGrid>
                <a:gridCol w="2054225"/>
                <a:gridCol w="1986915"/>
                <a:gridCol w="843280"/>
                <a:gridCol w="842645"/>
                <a:gridCol w="842010"/>
                <a:gridCol w="842645"/>
              </a:tblGrid>
              <a:tr h="36957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mse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onsolas" panose="020B0609020204030204"/>
                          <a:ea typeface="Consolas" panose="020B0609020204030204"/>
                        </a:rPr>
                        <a:t>208.343662375051</a:t>
                      </a:r>
                      <a:endParaRPr sz="1100" b="0" i="0">
                        <a:solidFill>
                          <a:srgbClr val="000000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893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 squared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onsolas" panose="020B0609020204030204"/>
                          <a:ea typeface="Consolas" panose="020B0609020204030204"/>
                        </a:rPr>
                        <a:t>0.206451944885627</a:t>
                      </a:r>
                      <a:endParaRPr sz="1100" b="0" i="0">
                        <a:solidFill>
                          <a:srgbClr val="000000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38874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model coefficient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onsolas" panose="020B0609020204030204"/>
                          <a:ea typeface="Consolas" panose="020B0609020204030204"/>
                        </a:rPr>
                        <a:t>0.00853153 0.00879884 -0.09263241 0.18184038]</a:t>
                      </a:r>
                      <a:endParaRPr sz="1100" b="0" i="0">
                        <a:solidFill>
                          <a:srgbClr val="000000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957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model intercept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onsolas" panose="020B0609020204030204"/>
                          <a:ea typeface="Consolas" panose="020B0609020204030204"/>
                        </a:rPr>
                        <a:t>21.8643473004952</a:t>
                      </a:r>
                      <a:endParaRPr sz="1100" b="0" i="0">
                        <a:solidFill>
                          <a:srgbClr val="000000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0358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onsolas" panose="020B0609020204030204"/>
                          <a:ea typeface="Consolas" panose="020B0609020204030204"/>
                        </a:rPr>
                        <a:t>Root Mean Squared Error RMSE: 14.43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onsolas" panose="020B0609020204030204"/>
                          <a:ea typeface="Consolas" panose="020B0609020204030204"/>
                        </a:rPr>
                        <a:t> </a:t>
                      </a:r>
                      <a:endParaRPr sz="1100" b="0" i="0">
                        <a:solidFill>
                          <a:srgbClr val="000000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198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Mean Absolute Error (MAE): 11.32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VIF &amp; CROSS VALIDATION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074420" y="2083435"/>
          <a:ext cx="6633210" cy="1906905"/>
        </p:xfrm>
        <a:graphic>
          <a:graphicData uri="http://schemas.openxmlformats.org/drawingml/2006/table">
            <a:tbl>
              <a:tblPr/>
              <a:tblGrid>
                <a:gridCol w="6633210"/>
              </a:tblGrid>
              <a:tr h="21717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Variable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VIF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291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amount 1.000166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227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ip_prefix 1.000022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227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login_frequency 3.901573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227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session_duration 3.901585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>
            <p:custDataLst>
              <p:tags r:id="rId2"/>
            </p:custDataLst>
          </p:nvPr>
        </p:nvGraphicFramePr>
        <p:xfrm>
          <a:off x="4267200" y="1619250"/>
          <a:ext cx="3314700" cy="2304415"/>
        </p:xfrm>
        <a:graphic>
          <a:graphicData uri="http://schemas.openxmlformats.org/drawingml/2006/table">
            <a:tbl>
              <a:tblPr/>
              <a:tblGrid>
                <a:gridCol w="3314700"/>
              </a:tblGrid>
              <a:tr h="189230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Cross-Validation R² Scores: [0.20600695 0.21244531 0.2164299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0.21871915 0.21155899]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211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Mean R² Score: 0.21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49705" y="1174750"/>
            <a:ext cx="624332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RIDGE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5785" y="2455545"/>
          <a:ext cx="5038090" cy="1744980"/>
        </p:xfrm>
        <a:graphic>
          <a:graphicData uri="http://schemas.openxmlformats.org/drawingml/2006/table">
            <a:tbl>
              <a:tblPr/>
              <a:tblGrid>
                <a:gridCol w="5038090"/>
              </a:tblGrid>
              <a:tr h="87249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Best Alpha for Ridge: {'alpha': 100}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7249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R² on Test Set: 0.20645214657923439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40815" y="1174750"/>
            <a:ext cx="62611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LOGISTIC REGRESSION CONFUSION MATRIX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  <p:graphicFrame>
        <p:nvGraphicFramePr>
          <p:cNvPr id="8" name="Table 7"/>
          <p:cNvGraphicFramePr/>
          <p:nvPr>
            <p:custDataLst>
              <p:tags r:id="rId1"/>
            </p:custDataLst>
          </p:nvPr>
        </p:nvGraphicFramePr>
        <p:xfrm>
          <a:off x="1042670" y="2400300"/>
          <a:ext cx="6003925" cy="1600200"/>
        </p:xfrm>
        <a:graphic>
          <a:graphicData uri="http://schemas.openxmlformats.org/drawingml/2006/table">
            <a:tbl>
              <a:tblPr/>
              <a:tblGrid>
                <a:gridCol w="2524125"/>
                <a:gridCol w="2444115"/>
                <a:gridCol w="1035685"/>
              </a:tblGrid>
              <a:tr h="16192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accuracy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             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0.31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11584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macro avg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0.08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0.12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0.08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11584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weighted avg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0.16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0.31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0.18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11584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Accuracy: 0.3143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Cross-validated Accuracy: 0.3162 ± 0.0027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Decision tree for ANOMALY</a:t>
            </a:r>
            <a:endParaRPr lang="en-US" altLang="en-GB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7545" y="1174750"/>
            <a:ext cx="7788275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1463040" y="2052955"/>
          <a:ext cx="6821805" cy="3705225"/>
        </p:xfrm>
        <a:graphic>
          <a:graphicData uri="http://schemas.openxmlformats.org/drawingml/2006/table">
            <a:tbl>
              <a:tblPr/>
              <a:tblGrid>
                <a:gridCol w="6821805"/>
              </a:tblGrid>
              <a:tr h="24701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Class high_risk ROC-AUC Score: 0.64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701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Class low_risk ROC-AUC Score: 0.59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701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Class moderate_risk ROC-AUC Score: 0.66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701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Classification Report: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701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  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precision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recall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f1-score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support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7015"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701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high_risk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0.25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0.31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0.28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1906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701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low_risk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0.83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0.84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0.84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19198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701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moderate_risk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0.29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0.21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0.24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2476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7015"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701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accuracy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             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0.73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23580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701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macro avg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0.46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0.45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0.45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23580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701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weighted avg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0.73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0.73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0.73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23580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7015"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701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Accuracy: 0.7329516539440204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Decision Tree based on transaction type</a:t>
            </a:r>
            <a:endParaRPr lang="en-US" altLang="en-GB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7545" y="1174750"/>
            <a:ext cx="7788275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060450" y="1553210"/>
          <a:ext cx="6675120" cy="3414395"/>
        </p:xfrm>
        <a:graphic>
          <a:graphicData uri="http://schemas.openxmlformats.org/drawingml/2006/table">
            <a:tbl>
              <a:tblPr/>
              <a:tblGrid>
                <a:gridCol w="6675120"/>
              </a:tblGrid>
              <a:tr h="17970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Class 0 ROC-AUC Score: 0.56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970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Class 1 ROC-AUC Score: 0.73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970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Class 2 ROC-AUC Score: 0.74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970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Class 3 ROC-AUC Score: 0.58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970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Class 4 ROC-AUC Score: 0.50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970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Classification Report: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970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 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precision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recall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f1-score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support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9705"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970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0.10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0.15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0.12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754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970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0.57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0.66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0.61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7529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970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0.59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0.64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0.62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7423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970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0.14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0.12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0.13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1152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970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0.28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0.19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0.23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6722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9705"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970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accuracy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             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0.48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23580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970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macro avg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0.34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0.35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0.34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23580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970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weighted avg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0.46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0.48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0.46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23580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9705"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970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Accuracy: 0.4785835453774385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Random FOREST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406525" y="1945005"/>
          <a:ext cx="4556125" cy="3255010"/>
        </p:xfrm>
        <a:graphic>
          <a:graphicData uri="http://schemas.openxmlformats.org/drawingml/2006/table">
            <a:tbl>
              <a:tblPr/>
              <a:tblGrid>
                <a:gridCol w="4556125"/>
              </a:tblGrid>
              <a:tr h="29591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Random Forest Classifier Report: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591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 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precision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recall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f1-score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support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5910"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591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high_risk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0.25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0.18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0.21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1251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591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low_risk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0.83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0.88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0.86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12848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591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moderate_risk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0.29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0.23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0.26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1621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5910"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591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accuracy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             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0.76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15720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591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macro avg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0.46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0.43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0.44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15720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591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weighted avg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0.73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0.76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0.74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15720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5910"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323340"/>
            <a:ext cx="8229600" cy="465455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GRADIENT BOOSTING CLASSIFIER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535430" y="1700530"/>
          <a:ext cx="7394575" cy="3904615"/>
        </p:xfrm>
        <a:graphic>
          <a:graphicData uri="http://schemas.openxmlformats.org/drawingml/2006/table">
            <a:tbl>
              <a:tblPr/>
              <a:tblGrid>
                <a:gridCol w="7394575"/>
              </a:tblGrid>
              <a:tr h="35496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Gradient Boosting Classifier Report: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496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 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precision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recall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f1-score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support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4965"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496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high_risk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0.00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0.00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0.00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1251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496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low_risk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0.82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1.00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0.90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12848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496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moderate_risk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0.50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0.00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0.00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1621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4965"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496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accuracy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             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0.82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15720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496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macro avg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0.44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0.33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0.30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15720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496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weighted avg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0.72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0.82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0.74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15720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4965"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323340"/>
            <a:ext cx="8229600" cy="465455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XGB Classifier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432560" y="1489075"/>
          <a:ext cx="5654675" cy="4089400"/>
        </p:xfrm>
        <a:graphic>
          <a:graphicData uri="http://schemas.openxmlformats.org/drawingml/2006/table">
            <a:tbl>
              <a:tblPr/>
              <a:tblGrid>
                <a:gridCol w="5654675"/>
              </a:tblGrid>
              <a:tr h="40894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precision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recall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f1-score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support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8940"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894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0.30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0.01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0.02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1251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894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0.82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0.99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0.90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12848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894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0.26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0.03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0.05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1621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8940"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894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accuracy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             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0.81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15720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894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macro avg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0.46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0.34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0.32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15720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894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weighted avg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0.72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0.81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0.74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   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15720</a:t>
                      </a:r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8940"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42745" y="1588770"/>
            <a:ext cx="5857875" cy="412432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endParaRPr 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1771015" y="2829560"/>
            <a:ext cx="560133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IN" altLang="en-US" sz="7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  <a:endParaRPr lang="en-IN" altLang="en-US" sz="7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18*270"/>
  <p:tag name="TABLE_ENDDRAG_RECT" val="102*149*518*270"/>
</p:tagLst>
</file>

<file path=ppt/tags/tag2.xml><?xml version="1.0" encoding="utf-8"?>
<p:tagLst xmlns:p="http://schemas.openxmlformats.org/presentationml/2006/main">
  <p:tag name="TABLE_ENDDRAG_ORIGIN_RECT" val="627*334"/>
  <p:tag name="TABLE_ENDDRAG_RECT" val="56*122*627*334"/>
</p:tagLst>
</file>

<file path=ppt/tags/tag3.xml><?xml version="1.0" encoding="utf-8"?>
<p:tagLst xmlns:p="http://schemas.openxmlformats.org/presentationml/2006/main">
  <p:tag name="TABLE_ENDDRAG_ORIGIN_RECT" val="477*358"/>
  <p:tag name="TABLE_ENDDRAG_RECT" val="119*106*477*358"/>
</p:tagLst>
</file>

<file path=ppt/tags/tag4.xml><?xml version="1.0" encoding="utf-8"?>
<p:tagLst xmlns:p="http://schemas.openxmlformats.org/presentationml/2006/main">
  <p:tag name="TABLE_ENDDRAG_ORIGIN_RECT" val="565*349"/>
  <p:tag name="TABLE_ENDDRAG_RECT" val="77*132*565*349"/>
</p:tagLst>
</file>

<file path=ppt/tags/tag5.xml><?xml version="1.0" encoding="utf-8"?>
<p:tagLst xmlns:p="http://schemas.openxmlformats.org/presentationml/2006/main">
  <p:tag name="TABLE_ENDDRAG_ORIGIN_RECT" val="352*261"/>
  <p:tag name="TABLE_ENDDRAG_RECT" val="108*133*352*261"/>
</p:tagLst>
</file>

<file path=ppt/tags/tag6.xml><?xml version="1.0" encoding="utf-8"?>
<p:tagLst xmlns:p="http://schemas.openxmlformats.org/presentationml/2006/main">
  <p:tag name="TABLE_ENDDRAG_ORIGIN_RECT" val="583*302"/>
  <p:tag name="TABLE_ENDDRAG_RECT" val="77*172*583*302"/>
</p:tagLst>
</file>

<file path=ppt/tags/tag7.xml><?xml version="1.0" encoding="utf-8"?>
<p:tagLst xmlns:p="http://schemas.openxmlformats.org/presentationml/2006/main">
  <p:tag name="TABLE_ENDDRAG_ORIGIN_RECT" val="522*150"/>
  <p:tag name="TABLE_ENDDRAG_RECT" val="84*164*522*150"/>
</p:tagLst>
</file>

<file path=ppt/tags/tag8.xml><?xml version="1.0" encoding="utf-8"?>
<p:tagLst xmlns:p="http://schemas.openxmlformats.org/presentationml/2006/main">
  <p:tag name="TABLE_ENDDRAG_ORIGIN_RECT" val="261*181"/>
  <p:tag name="TABLE_ENDDRAG_RECT" val="336*127*261*181"/>
</p:tagLst>
</file>

<file path=ppt/tags/tag9.xml><?xml version="1.0" encoding="utf-8"?>
<p:tagLst xmlns:p="http://schemas.openxmlformats.org/presentationml/2006/main">
  <p:tag name="TABLE_ENDDRAG_ORIGIN_RECT" val="396*137"/>
  <p:tag name="TABLE_ENDDRAG_RECT" val="144*193*396*137"/>
</p:tagLst>
</file>

<file path=ppt/tags/tag10.xml><?xml version="1.0" encoding="utf-8"?>
<p:tagLst xmlns:p="http://schemas.openxmlformats.org/presentationml/2006/main">
  <p:tag name="TABLE_ENDDRAG_ORIGIN_RECT" val="472*150"/>
  <p:tag name="TABLE_ENDDRAG_RECT" val="82*189*472*150"/>
</p:tagLst>
</file>

<file path=ppt/tags/tag11.xml><?xml version="1.0" encoding="utf-8"?>
<p:tagLst xmlns:p="http://schemas.openxmlformats.org/presentationml/2006/main">
  <p:tag name="TABLE_ENDDRAG_ORIGIN_RECT" val="537*291"/>
  <p:tag name="TABLE_ENDDRAG_RECT" val="115*161*537*291"/>
</p:tagLst>
</file>

<file path=ppt/tags/tag12.xml><?xml version="1.0" encoding="utf-8"?>
<p:tagLst xmlns:p="http://schemas.openxmlformats.org/presentationml/2006/main">
  <p:tag name="TABLE_ENDDRAG_ORIGIN_RECT" val="525*268"/>
  <p:tag name="TABLE_ENDDRAG_RECT" val="83*122*525*268"/>
</p:tagLst>
</file>

<file path=ppt/tags/tag13.xml><?xml version="1.0" encoding="utf-8"?>
<p:tagLst xmlns:p="http://schemas.openxmlformats.org/presentationml/2006/main">
  <p:tag name="TABLE_ENDDRAG_ORIGIN_RECT" val="358*255"/>
  <p:tag name="TABLE_ENDDRAG_RECT" val="110*153*358*255"/>
</p:tagLst>
</file>

<file path=ppt/tags/tag14.xml><?xml version="1.0" encoding="utf-8"?>
<p:tagLst xmlns:p="http://schemas.openxmlformats.org/presentationml/2006/main">
  <p:tag name="TABLE_ENDDRAG_ORIGIN_RECT" val="582*306"/>
  <p:tag name="TABLE_ENDDRAG_RECT" val="120*133*582*307"/>
</p:tagLst>
</file>

<file path=ppt/tags/tag15.xml><?xml version="1.0" encoding="utf-8"?>
<p:tagLst xmlns:p="http://schemas.openxmlformats.org/presentationml/2006/main">
  <p:tag name="TABLE_ENDDRAG_ORIGIN_RECT" val="445*322"/>
  <p:tag name="TABLE_ENDDRAG_RECT" val="112*117*445*322"/>
</p:tagLst>
</file>

<file path=ppt/theme/theme1.xml><?xml version="1.0" encoding="utf-8"?>
<a:theme xmlns:a="http://schemas.openxmlformats.org/drawingml/2006/main" name="Data Pie Charts">
  <a:themeElements>
    <a:clrScheme name="Data Pie Chart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Data Pie Chart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Data Pie Char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5699</Words>
  <Application>WPS Presentation</Application>
  <PresentationFormat/>
  <Paragraphs>537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3" baseType="lpstr">
      <vt:lpstr>Arial</vt:lpstr>
      <vt:lpstr>SimSun</vt:lpstr>
      <vt:lpstr>Wingdings</vt:lpstr>
      <vt:lpstr>Microsoft YaHei</vt:lpstr>
      <vt:lpstr>Arial Unicode MS</vt:lpstr>
      <vt:lpstr>Calibri</vt:lpstr>
      <vt:lpstr>Arial Unicode MS</vt:lpstr>
      <vt:lpstr>Arial</vt:lpstr>
      <vt:lpstr>Consolas</vt:lpstr>
      <vt:lpstr>Data Pie Charts</vt:lpstr>
      <vt:lpstr>METAVERSE DATA ANALYSIS INTERIM PROJECT REPORT</vt:lpstr>
      <vt:lpstr>PowerPoint 演示文稿</vt:lpstr>
      <vt:lpstr>PowerPoint 演示文稿</vt:lpstr>
      <vt:lpstr>PowerPoint 演示文稿</vt:lpstr>
      <vt:lpstr>Some Insights into our analysis:</vt:lpstr>
      <vt:lpstr>clearing outliers of numeric variable</vt:lpstr>
      <vt:lpstr>ANOMALY IDENTIFICATION</vt:lpstr>
      <vt:lpstr>Boxplot of numeric variables</vt:lpstr>
      <vt:lpstr>Amount vs Risk</vt:lpstr>
      <vt:lpstr>login frequency vs anomaly</vt:lpstr>
      <vt:lpstr>Session duration vs Anomaly</vt:lpstr>
      <vt:lpstr>Risk Score vs Anomaly</vt:lpstr>
      <vt:lpstr>Age-group vs Anomaly</vt:lpstr>
      <vt:lpstr>Region vs Anomaly</vt:lpstr>
      <vt:lpstr>Purchase pattern Vs Anomaly</vt:lpstr>
      <vt:lpstr>Transaction type vs Anomaly</vt:lpstr>
      <vt:lpstr>Correlation of numeric components</vt:lpstr>
      <vt:lpstr>heatmap of numeric values</vt:lpstr>
      <vt:lpstr>login frequency session duration vs Anomaly</vt:lpstr>
      <vt:lpstr>Age group vs Anomaly</vt:lpstr>
      <vt:lpstr>Risk Score vs Hours of day</vt:lpstr>
      <vt:lpstr>Transaction Amount by anomaly</vt:lpstr>
      <vt:lpstr>Amount vs Anomaly</vt:lpstr>
      <vt:lpstr>Region,age group vs anomaly</vt:lpstr>
      <vt:lpstr>Age group vs risk score</vt:lpstr>
      <vt:lpstr>PCA to chose the numeric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METAVERSE DATA ANALYSIS INTERIM PROJECT REPORT</dc:title>
  <dc:creator>Lenovo</dc:creator>
  <cp:lastModifiedBy>HARINI</cp:lastModifiedBy>
  <cp:revision>5</cp:revision>
  <dcterms:created xsi:type="dcterms:W3CDTF">2024-11-13T08:41:00Z</dcterms:created>
  <dcterms:modified xsi:type="dcterms:W3CDTF">2024-11-28T14:48:01Z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2057-12.2.0.18911</vt:lpwstr>
  </property>
  <property fmtid="{D5CDD505-2E9C-101B-9397-08002B2CF9AE}" pid="3" name="ICV">
    <vt:lpwstr>99570B05FE4643098F8C122B6DDAA0FB_13</vt:lpwstr>
  </property>
</Properties>
</file>